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5" r:id="rId13"/>
    <p:sldId id="267" r:id="rId14"/>
    <p:sldId id="274" r:id="rId15"/>
    <p:sldId id="269" r:id="rId16"/>
    <p:sldId id="270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875"/>
    <p:restoredTop sz="94651"/>
  </p:normalViewPr>
  <p:slideViewPr>
    <p:cSldViewPr snapToGrid="0">
      <p:cViewPr varScale="1">
        <p:scale>
          <a:sx n="143" d="100"/>
          <a:sy n="143" d="100"/>
        </p:scale>
        <p:origin x="9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C0B61-4890-9A42-A486-C9D18C2AD28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C829B-871D-5649-9D7C-62EAE5B66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F3D5-CCD2-4392-BD1F-B41DA8977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6B0FC-7EA4-C109-9517-B4DBFA61E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A539-D0AC-4164-BA73-3E2087B8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BB23-B078-6C4E-A19D-3EF90C5F80AB}" type="datetime1">
              <a:rPr lang="en-CA" smtClean="0"/>
              <a:t>2026-02-16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4C5F3-05AC-225D-E259-6ABAD03E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EF03-60A7-486C-C504-409FD1FE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0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51F5-BAFB-9BB1-192E-CB717E2B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76D94-2C0E-1B10-A741-E3C189070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787F-06F1-2749-8946-79BDB13C3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E17B-BB30-6F4B-A75A-E9CAA8A92E9F}" type="datetime1">
              <a:rPr lang="en-CA" smtClean="0"/>
              <a:t>2026-02-16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5EF9C-A8DF-7E07-3706-3BAC2B5C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8936C-4467-7E9D-22EB-93DA9A6A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3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E035-5359-4573-5B5C-0184D45D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0327-CC51-E4E1-A766-46C5D5D63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DF5A-E79C-8627-3FED-978FD008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24B64-159F-5948-B5CF-51F73901BE99}" type="datetime1">
              <a:rPr lang="en-CA" smtClean="0"/>
              <a:t>2026-02-16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5F44-5104-5334-F507-DA57074C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BECF2-F5F3-9793-FDF8-42D9B42B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8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3DD8-5E34-65FB-D1E2-1910E31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5274-982A-AA7C-6203-CE370AAFB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A8C87-713E-F048-8CB2-E4D829E89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C60CD-5A21-304F-97BB-C1E3A35E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5FDD-8EEC-FC4D-839A-CBFFAF20347B}" type="datetime1">
              <a:rPr lang="en-CA" smtClean="0"/>
              <a:t>2026-02-16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10CFC-2EA9-6615-1764-64556501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61825-0A8E-F627-190A-08E7155E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2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DBE9-528D-4620-59AA-5319EE57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65DD1-7F89-40D1-8767-3B76EEFC7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16EB5-E302-BC76-E1C7-89B42B935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AA252-51DE-B6CD-FED3-3F2F8094F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755B3-81DE-5790-63C8-19975526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40289-F777-0899-06CA-1C543FB2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01F-AD89-2C4C-89A0-AE317127DC0A}" type="datetime1">
              <a:rPr lang="en-CA" smtClean="0"/>
              <a:t>2026-02-16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D3837-A914-97DD-4C88-0C0E30C7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322A87-7A36-2614-54C2-41A45FF7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1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FBEC-636D-3F15-ED02-584478FF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F0EFE-C250-5A95-EEE1-20BDF12C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E1A09-CE59-2447-AD74-757712A98D42}" type="datetime1">
              <a:rPr lang="en-CA" smtClean="0"/>
              <a:t>2026-02-16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7291F-3225-BFBB-6539-7068E46E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5D2A1-1F85-7D9E-7E0D-FBEC7856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3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44A7E-E189-178D-C27F-60C9BC00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7EF5-7AD3-E442-A6D3-CAC786FEE599}" type="datetime1">
              <a:rPr lang="en-CA" smtClean="0"/>
              <a:t>2026-02-16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4B85B-2C05-DF3A-0317-1BC975E1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D5371-0ED3-AFE9-4EB2-4D5272D6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7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8A45-2022-76FE-78FC-37B5DC4A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B0197-F6FA-F265-628E-1A525192E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8609B-683B-CD8A-0987-5F2625182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1CAD1-661B-0C2B-A131-C8D39D2D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EBF6-BB39-2945-9B7A-B73CF218580B}" type="datetime1">
              <a:rPr lang="en-CA" smtClean="0"/>
              <a:t>2026-02-16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85BFC-EF46-8323-F274-39B580AC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25AA7-5AAD-F663-6DFA-88B75DB6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8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5154-8BE8-2813-D958-3571F5FB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50838-A795-B867-627C-4B2642EF2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A8B09-D7C9-9555-910F-35D340F1B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8D3D0-F90E-C65F-68F0-84E1E980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2EB2-0DBE-BD47-8DAA-2747D8F94546}" type="datetime1">
              <a:rPr lang="en-CA" smtClean="0"/>
              <a:t>2026-02-16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59CCB-4DD5-3BE3-2100-AA874152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F7C87-4C59-3474-B9EE-14C1AD0F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6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E5F5-E7B3-DF91-4B46-878E1CCD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48EAF-FE6B-13A3-36EE-4DD267C83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6E685-2069-B46E-107D-33910A51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35D8-3EA1-EA41-862C-5F3CD7C6E50B}" type="datetime1">
              <a:rPr lang="en-CA" smtClean="0"/>
              <a:t>2026-02-16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ADDD-8771-DB60-0A0E-585EE0F7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5790-A15A-79BF-6076-063C892E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6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4DC34A-BC7D-25E4-3FE8-51C9B72D9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717A0-2A04-F326-F525-F213702DE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D9559-D5AD-C18B-F259-DE177E20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532FE-3FF5-EF4D-A5D4-A49ACFF5C6F3}" type="datetime1">
              <a:rPr lang="en-CA" smtClean="0"/>
              <a:t>2026-02-16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C231-F987-A98C-148E-C6BFD317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9FB2-1B81-9908-4846-6162FFD5A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DECAD-60FC-CA76-1520-7E25E621B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0214-9F54-D0F6-A05D-621489B2D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EEE1-54D2-B6AC-BF2F-7FE77F35D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4B110-0C43-B344-9416-DE2842878CCC}" type="datetime1">
              <a:rPr lang="en-CA" smtClean="0"/>
              <a:t>2026-02-16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202E-89FE-852C-D561-7FED381A5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45A5-7720-B18F-8A60-3CDDB11D2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A9898-4DAD-484C-998D-91F6D7FC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4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5BB4-ACD5-ADAB-205F-9669C56AA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328" y="1041400"/>
            <a:ext cx="9873343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Walmart Demand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E55EC-2720-A476-B00E-C9718A6B7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95940"/>
            <a:ext cx="9144000" cy="5239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Z. Lasmar</a:t>
            </a:r>
          </a:p>
        </p:txBody>
      </p:sp>
    </p:spTree>
    <p:extLst>
      <p:ext uri="{BB962C8B-B14F-4D97-AF65-F5344CB8AC3E}">
        <p14:creationId xmlns:p14="http://schemas.microsoft.com/office/powerpoint/2010/main" val="101279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F909-E54A-5833-25D1-DBC60AB7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14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D20C5-953A-CD07-8698-08497BE1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67E49-0ED7-1BA2-A1C9-14AD8364A423}"/>
              </a:ext>
            </a:extLst>
          </p:cNvPr>
          <p:cNvSpPr txBox="1"/>
          <p:nvPr/>
        </p:nvSpPr>
        <p:spPr>
          <a:xfrm>
            <a:off x="2323388" y="1521151"/>
            <a:ext cx="75452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M5 dataset?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sales of 30k items and12 levels of aggregation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.csv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RMSE and WRMSSE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Baseline:  LightGBM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optimization using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cross-validation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Challenger: N-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 using different loss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N-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Back-of-the-Envelope ROI &amp; Business Impact (Illustrative)</a:t>
            </a:r>
          </a:p>
        </p:txBody>
      </p:sp>
    </p:spTree>
    <p:extLst>
      <p:ext uri="{BB962C8B-B14F-4D97-AF65-F5344CB8AC3E}">
        <p14:creationId xmlns:p14="http://schemas.microsoft.com/office/powerpoint/2010/main" val="132162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6CD7-6D3A-0105-7B20-3C10958F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958D-1CBF-9641-723F-9C0BB406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755" y="2830977"/>
            <a:ext cx="5130490" cy="119604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 -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59D7E-549D-E48F-9E7D-B8F6FD22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13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52AE-FF6D-6568-0C49-18FA8FAF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25E4-6924-8C79-765B-E376CAAE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68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What is the M5 dataset?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7A7FE-CD10-2878-8A39-21F05065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7B090-4F3F-80CC-D04C-1EE5528F1182}"/>
              </a:ext>
            </a:extLst>
          </p:cNvPr>
          <p:cNvSpPr txBox="1"/>
          <p:nvPr/>
        </p:nvSpPr>
        <p:spPr>
          <a:xfrm>
            <a:off x="838200" y="933270"/>
            <a:ext cx="100747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M5 dataset, generously made available by Walmart, involves the unit sales of various products sold in the USA, organized in the form of grouped time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involves the unit sales of 3,049 products: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in 3 product categories (Hobbies, Foods, and Household)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product departments in which the above-mentioned categories are disaggregated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products are sold across 10 stores, located in 3 States (CA, TX, and WI)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disaggregated data, i.e., product-store unit sales, can be grouped based on either location (store and state) or product-related information (department and category)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A3B96-758E-0B7D-5778-B4DCF924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16" y="3590974"/>
            <a:ext cx="6773864" cy="278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2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85EB-6FE4-41D2-0A98-197A4FDA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E4BD-6CDA-B48D-90D2-6B2A0445E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What is the M5 dataset?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77B00-4A86-F16F-C794-0F1C6B15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87EF3-FC32-FDB1-08DC-1981CCAC6A40}"/>
              </a:ext>
            </a:extLst>
          </p:cNvPr>
          <p:cNvSpPr txBox="1"/>
          <p:nvPr/>
        </p:nvSpPr>
        <p:spPr>
          <a:xfrm>
            <a:off x="838200" y="933270"/>
            <a:ext cx="10074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M5 dataset, generously made available by Walmart, involves the unit sales of various products sold in the USA, organized in the form of grouped time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involves the unit sales of 3,049 products: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in 3 product categories (Hobbies, Foods, and Household)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product departments in which the above-mentioned categories are disaggregated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products are sold across 10 stores, located in 3 States (CA, TX, and WI)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disaggregated data, i.e., product-store unit sales, can be grouped based on either location (store and state) or product-related information (department and category)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will build models to predict sales at level 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75897-C164-959A-C3F2-E9B5A789C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810" y="3429000"/>
            <a:ext cx="6869557" cy="33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0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F58B-6D50-167B-7CCC-BEC3BA21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A109-0D38-0505-DA71-419A926E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The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.csv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endParaRPr 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A9A96-71E8-58D8-EF72-D66D5377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E00E3-BC75-6A8C-14FC-8862305C7B0E}"/>
              </a:ext>
            </a:extLst>
          </p:cNvPr>
          <p:cNvSpPr txBox="1"/>
          <p:nvPr/>
        </p:nvSpPr>
        <p:spPr>
          <a:xfrm>
            <a:off x="897583" y="1130422"/>
            <a:ext cx="100747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sales_train_evaluation.csv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contains the sales of each unique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column ‘id’ specifies a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for each item in this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columns 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 to  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contain information about each item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item could be sold at different stores and/or different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columns ‘d_1’ to ‘d_1941’ contain information about the unit sales of each item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316054-8E2A-1BBC-F55C-8711C816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3707429"/>
            <a:ext cx="10193547" cy="202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6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9E29-10CE-3F19-57E6-131996E4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F665-30F5-F5C3-FCBE-506E76E8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The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.csv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endParaRPr 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C6C2E-0B13-2E1E-ABBD-9C293D06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245D2D-AA18-253B-AF34-12F4C27E50CE}"/>
              </a:ext>
            </a:extLst>
          </p:cNvPr>
          <p:cNvSpPr txBox="1"/>
          <p:nvPr/>
        </p:nvSpPr>
        <p:spPr>
          <a:xfrm>
            <a:off x="838200" y="933270"/>
            <a:ext cx="100747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</a:t>
            </a:r>
            <a:r>
              <a:rPr lang="en-CA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calendar.csv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timestamps (e.g., date, weekday, week number, month, and year)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events and holidays (e.g. Super Bowl, Valentine’s Day, and Orthodox Easter), organized into four classes, namely Sporting, Cultural, National, and Religious.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 activities that serve as promotions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federal government provides a nutrition assistance benefit called the Supplement Nutrition Assistance Program (SNAP)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binary variable (0 or 1) indicating whether the stores of CA, TX or WI allow SNAP purchases on the date examined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indicates that SNAP purchases are allowed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A8A65-506D-0A27-611D-AD9385C5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23" y="4880402"/>
            <a:ext cx="7772400" cy="161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2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656F-441E-F0D7-0555-27DA2AB6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8149-8CCA-1C6D-4F54-FAA02670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The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.csv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endParaRPr 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F583-2B93-2907-97B8-C15DB8ED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F2A76-9815-5101-29AC-4A66558B2ACE}"/>
              </a:ext>
            </a:extLst>
          </p:cNvPr>
          <p:cNvSpPr txBox="1"/>
          <p:nvPr/>
        </p:nvSpPr>
        <p:spPr>
          <a:xfrm>
            <a:off x="838200" y="1651543"/>
            <a:ext cx="1007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</a:t>
            </a:r>
            <a:r>
              <a:rPr lang="en-CA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sell_prices.csv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contains selling prices, provided on a week-store level (average across seven days).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available, this means that the product was not sold during the week examined.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prices are constant on a weekly basis, they may change with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DF57F-B990-E965-005C-318664D3C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963" y="3309144"/>
            <a:ext cx="3612233" cy="173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1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ED0-6C9B-286A-D949-FF042D12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458E-A930-BCB0-6FEB-57E6D403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RMSE and WRMSSE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8DD3B-5CAC-62F0-50DF-ED7EC9F2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D6066-445C-F469-C5A0-D24C3DB01FE6}"/>
              </a:ext>
            </a:extLst>
          </p:cNvPr>
          <p:cNvSpPr txBox="1"/>
          <p:nvPr/>
        </p:nvSpPr>
        <p:spPr>
          <a:xfrm>
            <a:off x="479188" y="1380549"/>
            <a:ext cx="110400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 Error (RMSE) is a standard metric used to measure the average difference between predicted values from a model and the actual, observed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standard deviation of the residuals (prediction errors), with lower values indicating better model fit and higher precision.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calculated by taking the square root of the average of squared differences between prediction and truth.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next slide for definitions of each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8B10AD-78EB-54A5-85DA-ED7BFB7F9AB5}"/>
                  </a:ext>
                </a:extLst>
              </p:cNvPr>
              <p:cNvSpPr txBox="1"/>
              <p:nvPr/>
            </p:nvSpPr>
            <p:spPr>
              <a:xfrm>
                <a:off x="4669520" y="4690150"/>
                <a:ext cx="2852960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baseline="-2500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8B10AD-78EB-54A5-85DA-ED7BFB7F9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520" y="4690150"/>
                <a:ext cx="2852960" cy="1077603"/>
              </a:xfrm>
              <a:prstGeom prst="rect">
                <a:avLst/>
              </a:prstGeom>
              <a:blipFill>
                <a:blip r:embed="rId2"/>
                <a:stretch>
                  <a:fillRect l="-1327" t="-66279" r="-2655" b="-1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84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0C1B-B617-9C3A-CDB5-F798905F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BC7E-C4A7-EADE-FB2F-11BDED20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14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RMSE and WRMSSE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1EEF-7C1E-4567-1E9F-E4A7E3C8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1A1CB4-1F79-C8A5-17A2-609D2153E348}"/>
                  </a:ext>
                </a:extLst>
              </p:cNvPr>
              <p:cNvSpPr txBox="1"/>
              <p:nvPr/>
            </p:nvSpPr>
            <p:spPr>
              <a:xfrm>
                <a:off x="479189" y="1380549"/>
                <a:ext cx="771066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Root Mean Squared Scaled Error (RMSSE):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actual future value of the examined time series at point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forecast of the method being evaluated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length of the training sample (number of historical observations)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forecasting horizon (28 days)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denominator of RMSSE is computed only for the periods during which the examined product(s) are actively sold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1A1CB4-1F79-C8A5-17A2-609D2153E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9" y="1380549"/>
                <a:ext cx="7710668" cy="2031325"/>
              </a:xfrm>
              <a:prstGeom prst="rect">
                <a:avLst/>
              </a:prstGeom>
              <a:blipFill>
                <a:blip r:embed="rId2"/>
                <a:stretch>
                  <a:fillRect l="-493" t="-1242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64957F-5844-F995-5A8F-1692163FB081}"/>
                  </a:ext>
                </a:extLst>
              </p:cNvPr>
              <p:cNvSpPr txBox="1"/>
              <p:nvPr/>
            </p:nvSpPr>
            <p:spPr>
              <a:xfrm>
                <a:off x="8463460" y="1731209"/>
                <a:ext cx="3249351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baseline="-2500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 b="0" i="1" baseline="-2500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b="0" i="1" baseline="-2500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b="0" i="1" baseline="300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num>
                            <m:den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baseline="-2500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baseline="-2500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b="0" i="1" baseline="300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64957F-5844-F995-5A8F-1692163FB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460" y="1731209"/>
                <a:ext cx="3249351" cy="1077603"/>
              </a:xfrm>
              <a:prstGeom prst="rect">
                <a:avLst/>
              </a:prstGeom>
              <a:blipFill>
                <a:blip r:embed="rId3"/>
                <a:stretch>
                  <a:fillRect t="-24419" r="-778" b="-5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CEFF8B-DB8E-A27B-01E4-2AD059059DF6}"/>
                  </a:ext>
                </a:extLst>
              </p:cNvPr>
              <p:cNvSpPr txBox="1"/>
              <p:nvPr/>
            </p:nvSpPr>
            <p:spPr>
              <a:xfrm>
                <a:off x="479189" y="4136152"/>
                <a:ext cx="771066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measure, to be called Weighted RMSSE (WRMSSE), is defined as follows: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𝑅𝑀𝑆𝑆𝐸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the weight and the RMSSE is the score of the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series of the dataset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weights are computed based on the last 28 observations of the training sample of the dataset (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of units sold multiplied by their respective price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WRMSSE scores indicate more accurate forecasts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CEFF8B-DB8E-A27B-01E4-2AD059059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9" y="4136152"/>
                <a:ext cx="7710668" cy="2585323"/>
              </a:xfrm>
              <a:prstGeom prst="rect">
                <a:avLst/>
              </a:prstGeom>
              <a:blipFill>
                <a:blip r:embed="rId4"/>
                <a:stretch>
                  <a:fillRect l="-493" t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296767-F7C3-CCE0-B1FF-D583A221B021}"/>
                  </a:ext>
                </a:extLst>
              </p:cNvPr>
              <p:cNvSpPr txBox="1"/>
              <p:nvPr/>
            </p:nvSpPr>
            <p:spPr>
              <a:xfrm>
                <a:off x="8548868" y="4609213"/>
                <a:ext cx="3163943" cy="778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𝑊𝑅𝑀𝑆𝑆𝐸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30,490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𝑅𝑀𝑆𝑆𝐸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296767-F7C3-CCE0-B1FF-D583A221B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868" y="4609213"/>
                <a:ext cx="3163943" cy="778803"/>
              </a:xfrm>
              <a:prstGeom prst="rect">
                <a:avLst/>
              </a:prstGeom>
              <a:blipFill>
                <a:blip r:embed="rId5"/>
                <a:stretch>
                  <a:fillRect t="-109524" b="-1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65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412A7-B64E-B6D9-2DE3-4BCDF789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A360-AA5E-2EFD-2E65-2B11E549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64" y="2830977"/>
            <a:ext cx="11101271" cy="119604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II – The baseline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Gradient Boosting Machine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4270-CBE2-0339-6B22-A167025F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1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9CC8-FC92-71D7-2E32-3CFBD934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1F981-9D66-F198-0B52-BFD3DA62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36A68-5F84-66C9-14AB-B6359E1E8CCC}"/>
              </a:ext>
            </a:extLst>
          </p:cNvPr>
          <p:cNvSpPr txBox="1"/>
          <p:nvPr/>
        </p:nvSpPr>
        <p:spPr>
          <a:xfrm>
            <a:off x="782365" y="904494"/>
            <a:ext cx="106272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cyclical sin/cos encoding for days of the week and for months and added the year as integers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snpa_active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to replace the 3 column in the raw data (each series is linked to a specific state)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for each item and for each day and filled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ffill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bfill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an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is_available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but it did not improve the model’s performance, so I dropped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lags of 28, 35, 42, and 49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rolling means of 7, 28, and 49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‘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d_int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as the integer number of each day in each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[‘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event_name_1', 'event_type_1', 'event_name_2', 'event_type_2’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and filled the missing values with the string ‘</a:t>
            </a:r>
            <a:r>
              <a:rPr lang="en-CA" i="1" dirty="0" err="1"/>
              <a:t>NoEvent</a:t>
            </a:r>
            <a:r>
              <a:rPr lang="en-CA" dirty="0"/>
              <a:t>’.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[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'id', '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item_id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cat_id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store_id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state_id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snap_active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'event_name_1', 'event_type_1', 'event_name_2', 'event_type_2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as categorical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out old data: only used the data between day 1200 and 1941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BC9F15-10A7-DB05-DA9C-B419C0BF67E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35678" cy="715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LightGBM - Feature engineering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F9B208-AAC3-39BF-EFCC-B83E2C05D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721" y="4491224"/>
            <a:ext cx="8510555" cy="16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9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F942-3940-E975-53CA-678B2CF8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13B1-691F-4306-DAB8-99CE90C4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35678" cy="715617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LightGBM - Hyperparameter optimization using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59877-4F3E-E4D3-C679-38015C42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04E847-AAC9-131C-3291-FCDEEF8AA962}"/>
              </a:ext>
            </a:extLst>
          </p:cNvPr>
          <p:cNvSpPr txBox="1"/>
          <p:nvPr/>
        </p:nvSpPr>
        <p:spPr>
          <a:xfrm>
            <a:off x="361120" y="822620"/>
            <a:ext cx="99337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/test split was as follows: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kept the data between day 1200 and 1941 (the older data was discarded)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last horizon (28 days) as the test 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penultimate horizon as the validation 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all remaining data as the training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 (15 trials) to search for best hyperparameters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tweedie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as objective and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as metric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tweedie_variance_power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ran on combined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train+val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10%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combined data to speedup the study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3 folds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the global LightGBM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best parameters identified in the study: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tweedie_variance_power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1.1030189277265174,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0.09596292009666046}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model had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2.2209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WRMSSE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0.8669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FE1D8-7588-61A0-62C4-A26C10E57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32" y="3582025"/>
            <a:ext cx="5257248" cy="3139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1CA29-2B67-294A-1373-8BE62B581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280" y="2382226"/>
            <a:ext cx="42926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54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E472-27D0-7050-B429-CC40327B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C493-5B48-1B47-95F8-CF813AF6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64" y="2830977"/>
            <a:ext cx="11101271" cy="11960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III – The challenger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Basis Expansion Analysis with exogenous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DDACA-E1F2-A101-0C40-6910D6FE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5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620F-3C9D-3262-C7E3-751B2A630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2F79-4729-4ADF-9D52-27C64CD6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767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Feature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ECB53-7B0D-2EEF-D655-D57B572D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976474-38B2-F7E3-C9D6-51F90D566DF0}"/>
              </a:ext>
            </a:extLst>
          </p:cNvPr>
          <p:cNvSpPr txBox="1"/>
          <p:nvPr/>
        </p:nvSpPr>
        <p:spPr>
          <a:xfrm>
            <a:off x="945698" y="867729"/>
            <a:ext cx="10488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snpa_active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to replace the 3 columns in the raw data (each series is linked to a specific state)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for each item and for each day and replaced the missing values using a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ffill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bfill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an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is_available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where 1 means that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real and 0 mean that it is a replacement for a missing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an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is_event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column to where 0 means it is a normal day and 1 means it is a holiday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out old data: only used the data between day 1200 and 1941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D424B-740D-2D66-A85C-231F3D8AF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28561"/>
            <a:ext cx="7772400" cy="312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94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1A02-15ED-41AB-622B-5A09E8DF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680A-B8EA-D7A0-6981-50BEB49B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577516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Model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89DA3-CC06-C7BA-7C09-E2AF1424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67F1B-54C4-4EDF-4D52-34B2ABD59678}"/>
              </a:ext>
            </a:extLst>
          </p:cNvPr>
          <p:cNvSpPr txBox="1"/>
          <p:nvPr/>
        </p:nvSpPr>
        <p:spPr>
          <a:xfrm>
            <a:off x="500035" y="769602"/>
            <a:ext cx="111243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NBEATSx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(from NeuralForecast)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loss function I used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 Loss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(0.5, 0.8 and 0.9) as the quantiles.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size: 370 days, Dropout: 0.2,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Bach_size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512, Accelerator: 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was controlled using a cosine annealing scheduler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CosineAnnealingWarmRestarts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{'T_0': 2000, 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T_mult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4,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eta_min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1e-6}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a few attempts using “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but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CosineAnnealingWarmRestarts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yielded the best performing model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EA144-D546-ED80-61A9-D7AD6E23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642" y="4294789"/>
            <a:ext cx="5548745" cy="2061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17ED0B-748B-D672-AD0A-85DDBF26B2AB}"/>
              </a:ext>
            </a:extLst>
          </p:cNvPr>
          <p:cNvSpPr txBox="1"/>
          <p:nvPr/>
        </p:nvSpPr>
        <p:spPr>
          <a:xfrm>
            <a:off x="433919" y="3503076"/>
            <a:ext cx="5628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</a:t>
            </a:r>
            <a:r>
              <a:rPr lang="en-C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/test split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identical to the one used for the baseline (LightGBM)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achieved the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2.1814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WRMSSE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0.8568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3C47C-B3E5-EC99-48DB-3B24B60D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0" y="3354925"/>
            <a:ext cx="42926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17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6D550-5B26-4631-1920-AAE4B977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E45D-BFCC-87F3-AC23-ACAD8128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64" y="2830977"/>
            <a:ext cx="11101271" cy="119604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IV –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62157-BAE6-A06A-13E1-AFB1E9AF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88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CEB9-E48E-F5D9-1F66-CA855D22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0EF9-D158-3664-5DB8-444CAF19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69348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N-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B860B-0858-F85D-FB2D-3D7FB270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F72D9-515F-2954-14E5-1F7BB3795A54}"/>
              </a:ext>
            </a:extLst>
          </p:cNvPr>
          <p:cNvSpPr txBox="1"/>
          <p:nvPr/>
        </p:nvSpPr>
        <p:spPr>
          <a:xfrm>
            <a:off x="668606" y="1239007"/>
            <a:ext cx="10854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was done in two acts: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only the Food items from the Californian stores to train local model (to allow for faster iterations)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all 30k+ series to train a global model that make forecasts for the entire M5 dataset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presentation, I only cover the case of global models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2)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are available on a dedicated GitHub repository [link]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summary of the metrics for both acts is captured below: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751F1F-9D20-6270-544F-005393952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76" y="4626968"/>
            <a:ext cx="10805845" cy="92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D8C49-D522-8817-FFAF-863C86DB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2DED-0C38-E7CC-CDBD-7C60C70B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4002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Back-of-the-Envelope ROI &amp; Business Impact (Illustrative)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285DD-AF8D-43C0-1D09-34A46001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00703-BC82-5145-3F2E-BAA1FDC17AC0}"/>
              </a:ext>
            </a:extLst>
          </p:cNvPr>
          <p:cNvSpPr txBox="1"/>
          <p:nvPr/>
        </p:nvSpPr>
        <p:spPr>
          <a:xfrm>
            <a:off x="508000" y="2109033"/>
            <a:ext cx="110097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result (this evaluation protocol):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item‑level WRMSSE improved by ~1% from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0.8669 → 0.8568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alongside an RMSE improvement of ~1.8% from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2.2209 → 2.1814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context (from M5 data):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across all 10 stores for fiscal year 2015 is about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$42.4M</a:t>
            </a:r>
          </a:p>
          <a:p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range (not a claim):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**1%**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improvement in weighted accuracy translated into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0.5%–2.0%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improvement in inventory efficiency on comparable operations, that corresponds to roughly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$212k–$848k/year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this dataset’s revenue scale.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this to a larger retailer (e.g., hundreds of stores) is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only. A more defensible estimate would tie quantile forecasts to explicit service-level targets and simulate inventory policies.</a:t>
            </a:r>
          </a:p>
          <a:p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ROI: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LightGBM’s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depends on ongoing maintenance of lag/rolling features and calendar joins.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N‑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reduces that feature-engineering surface area, which can lower operational risk and iteration time in production.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786CD8-360E-BB59-7128-3224316FA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61" y="877710"/>
            <a:ext cx="10099878" cy="86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2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7537-E6CD-2AB5-0BC1-49FDF616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1870-1651-2E75-F166-2D9E3905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" y="0"/>
            <a:ext cx="10515600" cy="623166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AWS Lambda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1DB35-1576-0EF8-0A05-B94E27E8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9898-4DAD-484C-998D-91F6D7FCAA32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F5B9F-6A72-A0DF-6509-19727C2B1FA8}"/>
              </a:ext>
            </a:extLst>
          </p:cNvPr>
          <p:cNvSpPr txBox="1"/>
          <p:nvPr/>
        </p:nvSpPr>
        <p:spPr>
          <a:xfrm>
            <a:off x="0" y="1035809"/>
            <a:ext cx="65903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N-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BEATSx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deployed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prepare_deployment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deployment artifacts (history slice + future exogenous + sample payload)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probabilistic forecasts of the selected item for the next 28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invoke the deployed model run</a:t>
            </a:r>
          </a:p>
          <a:p>
            <a:r>
              <a:rPr lang="en-CA" dirty="0"/>
              <a:t>	curl -X POST \</a:t>
            </a:r>
          </a:p>
          <a:p>
            <a:r>
              <a:rPr lang="en-CA" dirty="0"/>
              <a:t>	'&lt;INSERT_LAMBDA_URL&gt;’ \</a:t>
            </a:r>
          </a:p>
          <a:p>
            <a:r>
              <a:rPr lang="en-CA" dirty="0"/>
              <a:t>	-H 'Content-Type: application/</a:t>
            </a:r>
            <a:r>
              <a:rPr lang="en-CA" dirty="0" err="1"/>
              <a:t>json</a:t>
            </a:r>
            <a:r>
              <a:rPr lang="en-CA" dirty="0"/>
              <a:t>’ \</a:t>
            </a:r>
          </a:p>
          <a:p>
            <a:r>
              <a:rPr lang="en-CA" dirty="0"/>
              <a:t>	-d @Artifacts/deployment/</a:t>
            </a:r>
            <a:r>
              <a:rPr lang="en-CA" dirty="0" err="1"/>
              <a:t>test_payload.json</a:t>
            </a:r>
            <a:r>
              <a:rPr lang="en-CA" dirty="0"/>
              <a:t> \</a:t>
            </a:r>
          </a:p>
          <a:p>
            <a:r>
              <a:rPr lang="en-CA" dirty="0"/>
              <a:t>	-o </a:t>
            </a:r>
            <a:r>
              <a:rPr lang="en-CA" dirty="0" err="1"/>
              <a:t>response.json</a:t>
            </a:r>
            <a:endParaRPr lang="en-CA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URL is available upon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8CF12-67B2-4BB3-7C8A-F89457A05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327" y="1297875"/>
            <a:ext cx="5507181" cy="389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3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1955</Words>
  <Application>Microsoft Macintosh PowerPoint</Application>
  <PresentationFormat>Widescreen</PresentationFormat>
  <Paragraphs>177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Times New Roman</vt:lpstr>
      <vt:lpstr>Office Theme</vt:lpstr>
      <vt:lpstr>Walmart Demand Forecasting</vt:lpstr>
      <vt:lpstr>Plan</vt:lpstr>
      <vt:lpstr>Part I - Introduction</vt:lpstr>
      <vt:lpstr>Introduction: What is the M5 dataset?</vt:lpstr>
      <vt:lpstr>Introduction: What is the M5 dataset?</vt:lpstr>
      <vt:lpstr>Introduction: The .csv files</vt:lpstr>
      <vt:lpstr>Introduction: The .csv files</vt:lpstr>
      <vt:lpstr>Introduction: The .csv files</vt:lpstr>
      <vt:lpstr>Metrics: RMSE and WRMSSE</vt:lpstr>
      <vt:lpstr>Metrics: RMSE and WRMSSE</vt:lpstr>
      <vt:lpstr>Part II – The baseline Light Gradient Boosting Machine</vt:lpstr>
      <vt:lpstr>PowerPoint Presentation</vt:lpstr>
      <vt:lpstr>LightGBM - Hyperparameter optimization using optuna and training</vt:lpstr>
      <vt:lpstr>Part III – The challenger Neural Basis Expansion Analysis with exogenous variables</vt:lpstr>
      <vt:lpstr>N-BEATSx - Feature engineering</vt:lpstr>
      <vt:lpstr>N-BEATSx - Model training</vt:lpstr>
      <vt:lpstr>Part IV – Results</vt:lpstr>
      <vt:lpstr>Results: N-BEATSx wins</vt:lpstr>
      <vt:lpstr>Back-of-the-Envelope ROI &amp; Business Impact (Illustrative)</vt:lpstr>
      <vt:lpstr>Deployment on AWS Lambda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Lasmar Lasmar</dc:creator>
  <cp:lastModifiedBy>Lasmar Lasmar</cp:lastModifiedBy>
  <cp:revision>10</cp:revision>
  <dcterms:created xsi:type="dcterms:W3CDTF">2026-02-10T01:09:00Z</dcterms:created>
  <dcterms:modified xsi:type="dcterms:W3CDTF">2026-02-17T04:32:10Z</dcterms:modified>
</cp:coreProperties>
</file>